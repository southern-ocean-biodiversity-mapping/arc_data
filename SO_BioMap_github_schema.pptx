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03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1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40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6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81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98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19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32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228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720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09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AA416-1B86-48DF-A402-83B5AABD050D}" type="datetimeFigureOut">
              <a:rPr lang="en-AU" smtClean="0"/>
              <a:t>29/10/2021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9781-83E0-45FA-9C5F-28937C2ADA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86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C91E01-7865-4B6E-90F9-5CB902B2CD8A}"/>
              </a:ext>
            </a:extLst>
          </p:cNvPr>
          <p:cNvSpPr/>
          <p:nvPr/>
        </p:nvSpPr>
        <p:spPr>
          <a:xfrm>
            <a:off x="2485505" y="716660"/>
            <a:ext cx="4505499" cy="515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Southern-Ocean-Biodiversity-Mapping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2BE7BC-299A-44E5-8270-2CF4B8D4C9F9}"/>
              </a:ext>
            </a:extLst>
          </p:cNvPr>
          <p:cNvSpPr/>
          <p:nvPr/>
        </p:nvSpPr>
        <p:spPr>
          <a:xfrm>
            <a:off x="764770" y="1644414"/>
            <a:ext cx="3258590" cy="7232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/</a:t>
            </a:r>
            <a:r>
              <a:rPr lang="en-AU" dirty="0" err="1">
                <a:solidFill>
                  <a:schemeClr val="tx1"/>
                </a:solidFill>
              </a:rPr>
              <a:t>ARC_Data</a:t>
            </a:r>
            <a:endParaRPr lang="en-AU" dirty="0">
              <a:solidFill>
                <a:schemeClr val="tx1"/>
              </a:solidFill>
            </a:endParaRP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Contains all data streams needed for various biodiversity 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533E5-28F5-4F09-BB0A-3F6CBF9F25DD}"/>
              </a:ext>
            </a:extLst>
          </p:cNvPr>
          <p:cNvSpPr/>
          <p:nvPr/>
        </p:nvSpPr>
        <p:spPr>
          <a:xfrm>
            <a:off x="5087393" y="1651909"/>
            <a:ext cx="3156066" cy="7232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/</a:t>
            </a:r>
            <a:r>
              <a:rPr lang="en-AU" dirty="0" err="1">
                <a:solidFill>
                  <a:schemeClr val="tx1"/>
                </a:solidFill>
              </a:rPr>
              <a:t>ARC_Benthic</a:t>
            </a:r>
            <a:r>
              <a:rPr lang="en-AU" dirty="0">
                <a:solidFill>
                  <a:schemeClr val="tx1"/>
                </a:solidFill>
              </a:rPr>
              <a:t> Mapping</a:t>
            </a: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Contains folders/files for running and presenting each biodiversity modelling approach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C31F707D-72FB-4BDE-896B-A9182630F44D}"/>
              </a:ext>
            </a:extLst>
          </p:cNvPr>
          <p:cNvCxnSpPr/>
          <p:nvPr/>
        </p:nvCxnSpPr>
        <p:spPr>
          <a:xfrm rot="10800000" flipV="1">
            <a:off x="3009208" y="1232050"/>
            <a:ext cx="897775" cy="382384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32E80E9-4232-4C81-AE5D-290587D00526}"/>
              </a:ext>
            </a:extLst>
          </p:cNvPr>
          <p:cNvCxnSpPr>
            <a:cxnSpLocks/>
          </p:cNvCxnSpPr>
          <p:nvPr/>
        </p:nvCxnSpPr>
        <p:spPr>
          <a:xfrm>
            <a:off x="5237019" y="1232050"/>
            <a:ext cx="1088830" cy="382384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6CBB5D-C378-4CED-9242-56A6E20FAB05}"/>
              </a:ext>
            </a:extLst>
          </p:cNvPr>
          <p:cNvSpPr txBox="1"/>
          <p:nvPr/>
        </p:nvSpPr>
        <p:spPr>
          <a:xfrm>
            <a:off x="3387778" y="97145"/>
            <a:ext cx="2862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/>
              <a:t>Github</a:t>
            </a:r>
            <a:r>
              <a:rPr lang="en-AU" b="1" dirty="0"/>
              <a:t> Repository Structure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1F24A-56A2-4C75-92C3-A567AB62C4CF}"/>
              </a:ext>
            </a:extLst>
          </p:cNvPr>
          <p:cNvSpPr/>
          <p:nvPr/>
        </p:nvSpPr>
        <p:spPr>
          <a:xfrm>
            <a:off x="352269" y="2780675"/>
            <a:ext cx="1499016" cy="648325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/FAM</a:t>
            </a: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Food availability model inputs and evaluation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351D13-9E9F-444B-8EB1-5AE17E56E4F1}"/>
              </a:ext>
            </a:extLst>
          </p:cNvPr>
          <p:cNvSpPr/>
          <p:nvPr/>
        </p:nvSpPr>
        <p:spPr>
          <a:xfrm>
            <a:off x="2672886" y="3843963"/>
            <a:ext cx="1742264" cy="870444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</a:t>
            </a:r>
            <a:r>
              <a:rPr lang="en-AU" sz="1400" dirty="0" err="1">
                <a:solidFill>
                  <a:schemeClr val="tx1"/>
                </a:solidFill>
              </a:rPr>
              <a:t>prep_environment</a:t>
            </a:r>
            <a:endParaRPr lang="en-AU" sz="1400" dirty="0">
              <a:solidFill>
                <a:schemeClr val="tx1"/>
              </a:solidFill>
            </a:endParaRP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Extraction, formatting and matching of environmental data and </a:t>
            </a:r>
            <a:r>
              <a:rPr lang="en-AU" sz="1100" dirty="0" err="1">
                <a:solidFill>
                  <a:schemeClr val="tx1"/>
                </a:solidFill>
              </a:rPr>
              <a:t>climatologies</a:t>
            </a:r>
            <a:endParaRPr lang="en-AU" sz="11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2FBE69-7EAC-4E75-BA9C-D65AD9F56ACD}"/>
              </a:ext>
            </a:extLst>
          </p:cNvPr>
          <p:cNvSpPr/>
          <p:nvPr/>
        </p:nvSpPr>
        <p:spPr>
          <a:xfrm>
            <a:off x="2895148" y="2779985"/>
            <a:ext cx="1499016" cy="723207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/annotation</a:t>
            </a: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annotation and image metadata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A6D3C6-95CE-4CCD-9E14-11756FC75295}"/>
              </a:ext>
            </a:extLst>
          </p:cNvPr>
          <p:cNvSpPr/>
          <p:nvPr/>
        </p:nvSpPr>
        <p:spPr>
          <a:xfrm>
            <a:off x="352268" y="3842054"/>
            <a:ext cx="1742264" cy="872353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</a:t>
            </a:r>
            <a:r>
              <a:rPr lang="en-AU" sz="1400" dirty="0" err="1">
                <a:solidFill>
                  <a:schemeClr val="tx1"/>
                </a:solidFill>
              </a:rPr>
              <a:t>prep_image</a:t>
            </a:r>
            <a:endParaRPr lang="en-AU" sz="1400" dirty="0">
              <a:solidFill>
                <a:schemeClr val="tx1"/>
              </a:solidFill>
            </a:endParaRP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Formatting raw image metadata, selection of images. </a:t>
            </a: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NO NEED TO REVISIT!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F922818-BD35-454D-877D-5A1A490D9E92}"/>
              </a:ext>
            </a:extLst>
          </p:cNvPr>
          <p:cNvCxnSpPr/>
          <p:nvPr/>
        </p:nvCxnSpPr>
        <p:spPr>
          <a:xfrm rot="10800000" flipV="1">
            <a:off x="1196757" y="2367621"/>
            <a:ext cx="897775" cy="382384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5819A2D-BB1C-466E-A580-A1C33B0A0E6E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1345602" y="2793590"/>
            <a:ext cx="1474433" cy="622495"/>
          </a:xfrm>
          <a:prstGeom prst="curvedConnector3">
            <a:avLst>
              <a:gd name="adj1" fmla="val 64742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775056C-8C80-4250-9A75-8E9C3342B495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1861397" y="2900289"/>
            <a:ext cx="1474432" cy="409096"/>
          </a:xfrm>
          <a:prstGeom prst="curvedConnector3">
            <a:avLst>
              <a:gd name="adj1" fmla="val 61692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D8FC788B-7FFE-4351-BBA5-EF95EDCDAC70}"/>
              </a:ext>
            </a:extLst>
          </p:cNvPr>
          <p:cNvCxnSpPr>
            <a:cxnSpLocks/>
          </p:cNvCxnSpPr>
          <p:nvPr/>
        </p:nvCxnSpPr>
        <p:spPr>
          <a:xfrm>
            <a:off x="2991767" y="2375116"/>
            <a:ext cx="969455" cy="382384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6B561B6-C83A-4076-8B24-09AB1B9530DB}"/>
              </a:ext>
            </a:extLst>
          </p:cNvPr>
          <p:cNvSpPr/>
          <p:nvPr/>
        </p:nvSpPr>
        <p:spPr>
          <a:xfrm>
            <a:off x="4904501" y="3104837"/>
            <a:ext cx="1499016" cy="648325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</a:t>
            </a:r>
            <a:r>
              <a:rPr lang="en-AU" sz="1400" dirty="0" err="1">
                <a:solidFill>
                  <a:schemeClr val="tx1"/>
                </a:solidFill>
              </a:rPr>
              <a:t>data_explore</a:t>
            </a:r>
            <a:endParaRPr lang="en-AU" sz="1400" dirty="0">
              <a:solidFill>
                <a:schemeClr val="tx1"/>
              </a:solidFill>
            </a:endParaRP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Initial plots, tables and data visualisation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E6187-AF08-4324-8378-DC467E0FDDA6}"/>
              </a:ext>
            </a:extLst>
          </p:cNvPr>
          <p:cNvSpPr/>
          <p:nvPr/>
        </p:nvSpPr>
        <p:spPr>
          <a:xfrm>
            <a:off x="7183400" y="4187594"/>
            <a:ext cx="1608332" cy="723207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/bioregions</a:t>
            </a: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Nicole’s Regions of Common Profile analysis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80D99D-B88C-48B4-800E-2633B6D2990B}"/>
              </a:ext>
            </a:extLst>
          </p:cNvPr>
          <p:cNvSpPr/>
          <p:nvPr/>
        </p:nvSpPr>
        <p:spPr>
          <a:xfrm>
            <a:off x="5194143" y="4187594"/>
            <a:ext cx="1499016" cy="723207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/biodiversity</a:t>
            </a: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Jan’s biodiversity analyses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78B484A-D4C8-4DB2-A9A9-AB232539FF6E}"/>
              </a:ext>
            </a:extLst>
          </p:cNvPr>
          <p:cNvSpPr/>
          <p:nvPr/>
        </p:nvSpPr>
        <p:spPr>
          <a:xfrm>
            <a:off x="6012827" y="5287953"/>
            <a:ext cx="2636498" cy="633841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</a:t>
            </a:r>
            <a:r>
              <a:rPr lang="en-AU" sz="1400" dirty="0" err="1">
                <a:solidFill>
                  <a:schemeClr val="tx1"/>
                </a:solidFill>
              </a:rPr>
              <a:t>vulnerable_marine_ecosystems</a:t>
            </a:r>
            <a:endParaRPr lang="en-AU" sz="1400" dirty="0">
              <a:solidFill>
                <a:schemeClr val="tx1"/>
              </a:solidFill>
            </a:endParaRP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Charley’s VME analyses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51FF9E99-E67C-4CFB-B4ED-B42C024B429E}"/>
              </a:ext>
            </a:extLst>
          </p:cNvPr>
          <p:cNvCxnSpPr>
            <a:cxnSpLocks/>
          </p:cNvCxnSpPr>
          <p:nvPr/>
        </p:nvCxnSpPr>
        <p:spPr>
          <a:xfrm>
            <a:off x="6991004" y="2387356"/>
            <a:ext cx="1037722" cy="642599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3672634-BB17-4687-9CFE-928B41DBE558}"/>
              </a:ext>
            </a:extLst>
          </p:cNvPr>
          <p:cNvSpPr/>
          <p:nvPr/>
        </p:nvSpPr>
        <p:spPr>
          <a:xfrm>
            <a:off x="6991004" y="3029955"/>
            <a:ext cx="1499016" cy="723207"/>
          </a:xfrm>
          <a:prstGeom prst="rect">
            <a:avLst/>
          </a:prstGeom>
          <a:solidFill>
            <a:schemeClr val="accent6">
              <a:lumMod val="75000"/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/</a:t>
            </a:r>
            <a:r>
              <a:rPr lang="en-AU" sz="1400" dirty="0" err="1">
                <a:solidFill>
                  <a:schemeClr val="tx1"/>
                </a:solidFill>
              </a:rPr>
              <a:t>internal_tools</a:t>
            </a:r>
            <a:endParaRPr lang="en-AU" sz="1400" dirty="0">
              <a:solidFill>
                <a:schemeClr val="tx1"/>
              </a:solidFill>
            </a:endParaRPr>
          </a:p>
          <a:p>
            <a:pPr algn="ctr"/>
            <a:r>
              <a:rPr lang="en-AU" sz="1100" dirty="0">
                <a:solidFill>
                  <a:schemeClr val="tx1"/>
                </a:solidFill>
              </a:rPr>
              <a:t>Helpful bits and pieces of common code</a:t>
            </a: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E45EFA75-338E-4A8F-B69B-32F41A6E62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20335" y="2367618"/>
            <a:ext cx="729958" cy="718675"/>
          </a:xfrm>
          <a:prstGeom prst="curved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51363589-0438-4ACC-98F7-A2A798C07EB1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5603215" y="3125383"/>
            <a:ext cx="1812478" cy="311944"/>
          </a:xfrm>
          <a:prstGeom prst="curvedConnector3">
            <a:avLst>
              <a:gd name="adj1" fmla="val 88458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7E2749DE-1DB0-426B-81BC-A03976694C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90250" y="3039418"/>
            <a:ext cx="1734203" cy="405593"/>
          </a:xfrm>
          <a:prstGeom prst="curvedConnector3">
            <a:avLst>
              <a:gd name="adj1" fmla="val 93651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D879E9BE-C9A0-4581-AB36-12382601E6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91450" y="3724200"/>
            <a:ext cx="2895959" cy="197791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147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44DE89CB-6A18-43BD-AB3D-027E2550ACED}"/>
              </a:ext>
            </a:extLst>
          </p:cNvPr>
          <p:cNvSpPr/>
          <p:nvPr/>
        </p:nvSpPr>
        <p:spPr bwMode="auto">
          <a:xfrm>
            <a:off x="476200" y="939800"/>
            <a:ext cx="1855787" cy="4494134"/>
          </a:xfrm>
          <a:prstGeom prst="rect">
            <a:avLst/>
          </a:prstGeom>
          <a:solidFill>
            <a:srgbClr val="759FA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Pentagon 4">
            <a:extLst>
              <a:ext uri="{FF2B5EF4-FFF2-40B4-BE49-F238E27FC236}">
                <a16:creationId xmlns:a16="http://schemas.microsoft.com/office/drawing/2014/main" id="{E6E74F2D-A60C-4671-ADCA-B6E32DFC73BA}"/>
              </a:ext>
            </a:extLst>
          </p:cNvPr>
          <p:cNvSpPr/>
          <p:nvPr/>
        </p:nvSpPr>
        <p:spPr bwMode="auto">
          <a:xfrm>
            <a:off x="457201" y="718666"/>
            <a:ext cx="7834506" cy="256694"/>
          </a:xfrm>
          <a:prstGeom prst="rect">
            <a:avLst/>
          </a:prstGeom>
          <a:solidFill>
            <a:srgbClr val="759FAB"/>
          </a:solidFill>
          <a:ln w="6350" cmpd="sng">
            <a:noFill/>
          </a:ln>
          <a:effectLst/>
        </p:spPr>
        <p:txBody>
          <a:bodyPr lIns="64008" tIns="32004" rIns="16002" bIns="32004" spcCol="1270"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0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3" name="Pentagon 34">
            <a:extLst>
              <a:ext uri="{FF2B5EF4-FFF2-40B4-BE49-F238E27FC236}">
                <a16:creationId xmlns:a16="http://schemas.microsoft.com/office/drawing/2014/main" id="{469A8DA4-BCBC-416A-8FDC-8C7F792075B4}"/>
              </a:ext>
            </a:extLst>
          </p:cNvPr>
          <p:cNvSpPr/>
          <p:nvPr/>
        </p:nvSpPr>
        <p:spPr bwMode="auto">
          <a:xfrm>
            <a:off x="2236787" y="731838"/>
            <a:ext cx="119063" cy="220662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E7ED44-1D20-467D-B36E-2FA9E5D7020F}"/>
              </a:ext>
            </a:extLst>
          </p:cNvPr>
          <p:cNvSpPr txBox="1"/>
          <p:nvPr/>
        </p:nvSpPr>
        <p:spPr bwMode="auto">
          <a:xfrm>
            <a:off x="346515" y="706943"/>
            <a:ext cx="1775197" cy="2778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/FAM</a:t>
            </a:r>
          </a:p>
        </p:txBody>
      </p:sp>
      <p:sp>
        <p:nvSpPr>
          <p:cNvPr id="55" name="Pentagon 43">
            <a:extLst>
              <a:ext uri="{FF2B5EF4-FFF2-40B4-BE49-F238E27FC236}">
                <a16:creationId xmlns:a16="http://schemas.microsoft.com/office/drawing/2014/main" id="{B3F93429-2479-4374-922E-6FCC77F73EE1}"/>
              </a:ext>
            </a:extLst>
          </p:cNvPr>
          <p:cNvSpPr/>
          <p:nvPr/>
        </p:nvSpPr>
        <p:spPr bwMode="auto">
          <a:xfrm>
            <a:off x="4492625" y="731838"/>
            <a:ext cx="119063" cy="220662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Pentagon 44">
            <a:extLst>
              <a:ext uri="{FF2B5EF4-FFF2-40B4-BE49-F238E27FC236}">
                <a16:creationId xmlns:a16="http://schemas.microsoft.com/office/drawing/2014/main" id="{32870A45-E67F-41EC-94D7-4A6FC414F12E}"/>
              </a:ext>
            </a:extLst>
          </p:cNvPr>
          <p:cNvSpPr/>
          <p:nvPr/>
        </p:nvSpPr>
        <p:spPr bwMode="auto">
          <a:xfrm>
            <a:off x="6405563" y="725488"/>
            <a:ext cx="123825" cy="227012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F00416-CB04-4988-8638-E94E84D13B46}"/>
              </a:ext>
            </a:extLst>
          </p:cNvPr>
          <p:cNvSpPr/>
          <p:nvPr/>
        </p:nvSpPr>
        <p:spPr bwMode="auto">
          <a:xfrm>
            <a:off x="4453323" y="939800"/>
            <a:ext cx="1951341" cy="4512679"/>
          </a:xfrm>
          <a:prstGeom prst="rect">
            <a:avLst/>
          </a:prstGeom>
          <a:solidFill>
            <a:srgbClr val="759FA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7D653D-0336-4254-82FB-D9E8DFA5503D}"/>
              </a:ext>
            </a:extLst>
          </p:cNvPr>
          <p:cNvSpPr/>
          <p:nvPr/>
        </p:nvSpPr>
        <p:spPr bwMode="auto">
          <a:xfrm rot="5400000">
            <a:off x="2015371" y="-826333"/>
            <a:ext cx="4702096" cy="7818438"/>
          </a:xfrm>
          <a:prstGeom prst="rect">
            <a:avLst/>
          </a:prstGeom>
          <a:noFill/>
          <a:ln w="6350" cap="flat" cmpd="sng" algn="ctr">
            <a:solidFill>
              <a:srgbClr val="759FAB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9" name="Group 10">
            <a:extLst>
              <a:ext uri="{FF2B5EF4-FFF2-40B4-BE49-F238E27FC236}">
                <a16:creationId xmlns:a16="http://schemas.microsoft.com/office/drawing/2014/main" id="{9B836ED0-F52B-4E84-8AEC-ADC70F185DC1}"/>
              </a:ext>
            </a:extLst>
          </p:cNvPr>
          <p:cNvGrpSpPr>
            <a:grpSpLocks/>
          </p:cNvGrpSpPr>
          <p:nvPr/>
        </p:nvGrpSpPr>
        <p:grpSpPr bwMode="auto">
          <a:xfrm>
            <a:off x="569624" y="1120778"/>
            <a:ext cx="1672073" cy="294212"/>
            <a:chOff x="1103313" y="1641476"/>
            <a:chExt cx="1316037" cy="464438"/>
          </a:xfrm>
        </p:grpSpPr>
        <p:sp>
          <p:nvSpPr>
            <p:cNvPr id="60" name="Terminator 28">
              <a:extLst>
                <a:ext uri="{FF2B5EF4-FFF2-40B4-BE49-F238E27FC236}">
                  <a16:creationId xmlns:a16="http://schemas.microsoft.com/office/drawing/2014/main" id="{6333BBB5-34BC-404C-9B7E-A06496EED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13" y="1641476"/>
              <a:ext cx="1316037" cy="464438"/>
            </a:xfrm>
            <a:prstGeom prst="flowChartTerminator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08658B5-CD93-4017-9A85-0485F44F81E9}"/>
                </a:ext>
              </a:extLst>
            </p:cNvPr>
            <p:cNvSpPr txBox="1"/>
            <p:nvPr/>
          </p:nvSpPr>
          <p:spPr bwMode="auto">
            <a:xfrm>
              <a:off x="1103313" y="1660065"/>
              <a:ext cx="1316037" cy="44009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endParaRP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90E4D0-E889-49D6-82C9-71A3BECE8EA0}"/>
              </a:ext>
            </a:extLst>
          </p:cNvPr>
          <p:cNvCxnSpPr>
            <a:cxnSpLocks/>
          </p:cNvCxnSpPr>
          <p:nvPr/>
        </p:nvCxnSpPr>
        <p:spPr>
          <a:xfrm>
            <a:off x="1399743" y="1537526"/>
            <a:ext cx="0" cy="463550"/>
          </a:xfrm>
          <a:prstGeom prst="straightConnector1">
            <a:avLst/>
          </a:prstGeom>
          <a:noFill/>
          <a:ln w="254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3FEA32C-4246-4FD8-ACF7-07B97FF01447}"/>
              </a:ext>
            </a:extLst>
          </p:cNvPr>
          <p:cNvSpPr txBox="1"/>
          <p:nvPr/>
        </p:nvSpPr>
        <p:spPr bwMode="auto">
          <a:xfrm>
            <a:off x="2493912" y="699422"/>
            <a:ext cx="1863725" cy="2762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/</a:t>
            </a:r>
            <a:r>
              <a:rPr lang="en-US" sz="1200" kern="1000" spc="50" dirty="0" err="1">
                <a:solidFill>
                  <a:prstClr val="white"/>
                </a:solidFill>
                <a:ea typeface="MS PGothic" pitchFamily="34" charset="-128"/>
                <a:cs typeface="Arial"/>
              </a:rPr>
              <a:t>prep_image</a:t>
            </a:r>
            <a:endParaRPr lang="en-US" sz="1200" kern="1000" spc="50" dirty="0">
              <a:solidFill>
                <a:prstClr val="white"/>
              </a:solidFill>
              <a:ea typeface="MS PGothic" pitchFamily="34" charset="-128"/>
              <a:cs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E9BFF4-5AB8-4292-BC35-1DC9499FC3BE}"/>
              </a:ext>
            </a:extLst>
          </p:cNvPr>
          <p:cNvSpPr txBox="1"/>
          <p:nvPr/>
        </p:nvSpPr>
        <p:spPr bwMode="auto">
          <a:xfrm>
            <a:off x="4525769" y="696069"/>
            <a:ext cx="1863725" cy="2762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/</a:t>
            </a:r>
            <a:r>
              <a:rPr lang="en-US" sz="1200" kern="1000" spc="50" dirty="0" err="1">
                <a:solidFill>
                  <a:prstClr val="white"/>
                </a:solidFill>
                <a:ea typeface="MS PGothic" pitchFamily="34" charset="-128"/>
                <a:cs typeface="Arial"/>
              </a:rPr>
              <a:t>prep_environment</a:t>
            </a:r>
            <a:endParaRPr lang="en-US" sz="1200" kern="1000" spc="50" dirty="0">
              <a:solidFill>
                <a:prstClr val="white"/>
              </a:solidFill>
              <a:ea typeface="MS PGothic" pitchFamily="34" charset="-128"/>
              <a:cs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1AABEE-E1FD-4390-A02C-07F8EBE8BF61}"/>
              </a:ext>
            </a:extLst>
          </p:cNvPr>
          <p:cNvSpPr txBox="1"/>
          <p:nvPr/>
        </p:nvSpPr>
        <p:spPr bwMode="auto">
          <a:xfrm>
            <a:off x="6440294" y="699422"/>
            <a:ext cx="1863725" cy="2762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/annotation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9114EF-79D8-4DAD-A3C4-E101E2097DE4}"/>
              </a:ext>
            </a:extLst>
          </p:cNvPr>
          <p:cNvSpPr txBox="1"/>
          <p:nvPr/>
        </p:nvSpPr>
        <p:spPr>
          <a:xfrm>
            <a:off x="4320382" y="2591370"/>
            <a:ext cx="2147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Extract and format bathymetry, generate TPI, get NPP and ROMS seafloor layers, generate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climatologies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 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Terminator 28">
            <a:extLst>
              <a:ext uri="{FF2B5EF4-FFF2-40B4-BE49-F238E27FC236}">
                <a16:creationId xmlns:a16="http://schemas.microsoft.com/office/drawing/2014/main" id="{00D922CE-2D7E-40C2-892D-2EED20A38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0556" y="2288392"/>
            <a:ext cx="1882775" cy="260122"/>
          </a:xfrm>
          <a:prstGeom prst="flowChartTerminator">
            <a:avLst/>
          </a:prstGeom>
          <a:solidFill>
            <a:srgbClr val="99BA82"/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blurRad="41275" dist="25400" dir="5400000" algn="tl" rotWithShape="0">
              <a:srgbClr val="68686D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600" kern="1000" spc="50" dirty="0">
              <a:solidFill>
                <a:srgbClr val="D4D4D6">
                  <a:lumMod val="25000"/>
                </a:srgbClr>
              </a:solidFill>
              <a:ea typeface="MS PGothic" pitchFamily="34" charset="-12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9ADC6B-8207-4F70-A09B-2CD95B7D4F31}"/>
              </a:ext>
            </a:extLst>
          </p:cNvPr>
          <p:cNvSpPr txBox="1"/>
          <p:nvPr/>
        </p:nvSpPr>
        <p:spPr bwMode="auto">
          <a:xfrm>
            <a:off x="4450556" y="2293504"/>
            <a:ext cx="1882775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rPr>
              <a:t>1a_Bathymetery_NPP_ROMS.R</a:t>
            </a:r>
          </a:p>
          <a:p>
            <a:pPr algn="ctr">
              <a:defRPr/>
            </a:pPr>
            <a:endParaRPr lang="en-US" sz="1000" b="1" dirty="0">
              <a:solidFill>
                <a:srgbClr val="343437"/>
              </a:solidFill>
              <a:ea typeface="MS PGothic" pitchFamily="34" charset="-128"/>
              <a:cs typeface="Arial"/>
            </a:endParaRPr>
          </a:p>
        </p:txBody>
      </p:sp>
      <p:grpSp>
        <p:nvGrpSpPr>
          <p:cNvPr id="74" name="Group 10">
            <a:extLst>
              <a:ext uri="{FF2B5EF4-FFF2-40B4-BE49-F238E27FC236}">
                <a16:creationId xmlns:a16="http://schemas.microsoft.com/office/drawing/2014/main" id="{F4268FC7-D1C3-4B11-95DB-C023B419819B}"/>
              </a:ext>
            </a:extLst>
          </p:cNvPr>
          <p:cNvGrpSpPr>
            <a:grpSpLocks/>
          </p:cNvGrpSpPr>
          <p:nvPr/>
        </p:nvGrpSpPr>
        <p:grpSpPr bwMode="auto">
          <a:xfrm>
            <a:off x="4520297" y="3214738"/>
            <a:ext cx="1804193" cy="434629"/>
            <a:chOff x="1103313" y="1641476"/>
            <a:chExt cx="1316037" cy="674447"/>
          </a:xfrm>
        </p:grpSpPr>
        <p:sp>
          <p:nvSpPr>
            <p:cNvPr id="75" name="Terminator 28">
              <a:extLst>
                <a:ext uri="{FF2B5EF4-FFF2-40B4-BE49-F238E27FC236}">
                  <a16:creationId xmlns:a16="http://schemas.microsoft.com/office/drawing/2014/main" id="{18060ED0-370D-4B0F-8387-767E1A979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13" y="1641476"/>
              <a:ext cx="1316037" cy="464438"/>
            </a:xfrm>
            <a:prstGeom prst="flowChartTerminator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3016A11-E268-4F4A-BC5C-0FEAF0877E9D}"/>
                </a:ext>
              </a:extLst>
            </p:cNvPr>
            <p:cNvSpPr txBox="1"/>
            <p:nvPr/>
          </p:nvSpPr>
          <p:spPr bwMode="auto">
            <a:xfrm>
              <a:off x="1176760" y="1695042"/>
              <a:ext cx="1201535" cy="6208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000" b="1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1b_Satellite_SST_SSH_ice.R </a:t>
              </a:r>
            </a:p>
            <a:p>
              <a:pPr algn="ctr">
                <a:defRPr/>
              </a:pPr>
              <a:endPara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58E02D38-0BD9-4EF1-B9A6-033542EC347F}"/>
              </a:ext>
            </a:extLst>
          </p:cNvPr>
          <p:cNvSpPr txBox="1"/>
          <p:nvPr/>
        </p:nvSpPr>
        <p:spPr>
          <a:xfrm>
            <a:off x="4328955" y="3537650"/>
            <a:ext cx="2200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Extract and daily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sst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,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ssh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 and ice using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raadtools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 and VM. Generate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climatologies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.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78" name="Group 10">
            <a:extLst>
              <a:ext uri="{FF2B5EF4-FFF2-40B4-BE49-F238E27FC236}">
                <a16:creationId xmlns:a16="http://schemas.microsoft.com/office/drawing/2014/main" id="{077FA9C3-4719-4919-B842-66AED80CC5FC}"/>
              </a:ext>
            </a:extLst>
          </p:cNvPr>
          <p:cNvGrpSpPr>
            <a:grpSpLocks/>
          </p:cNvGrpSpPr>
          <p:nvPr/>
        </p:nvGrpSpPr>
        <p:grpSpPr bwMode="auto">
          <a:xfrm>
            <a:off x="4537784" y="3965849"/>
            <a:ext cx="1716965" cy="779983"/>
            <a:chOff x="1086527" y="1641476"/>
            <a:chExt cx="1332823" cy="1005973"/>
          </a:xfrm>
        </p:grpSpPr>
        <p:sp>
          <p:nvSpPr>
            <p:cNvPr id="79" name="Terminator 28">
              <a:extLst>
                <a:ext uri="{FF2B5EF4-FFF2-40B4-BE49-F238E27FC236}">
                  <a16:creationId xmlns:a16="http://schemas.microsoft.com/office/drawing/2014/main" id="{5A933A2A-28B4-4FD0-AFA0-46EA260C6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13" y="1641476"/>
              <a:ext cx="1316037" cy="464438"/>
            </a:xfrm>
            <a:prstGeom prst="flowChartTerminator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2B21F88-58DE-4332-8202-5DB608C6747B}"/>
                </a:ext>
              </a:extLst>
            </p:cNvPr>
            <p:cNvSpPr txBox="1"/>
            <p:nvPr/>
          </p:nvSpPr>
          <p:spPr bwMode="auto">
            <a:xfrm>
              <a:off x="1086527" y="1658307"/>
              <a:ext cx="1316037" cy="9891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000" b="1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2_Extract_Environment_at_Samples.R</a:t>
              </a:r>
            </a:p>
            <a:p>
              <a:pPr algn="ctr">
                <a:defRPr/>
              </a:pPr>
              <a:endPara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4B76C34-C033-4822-A1DD-B340C9B9BF84}"/>
              </a:ext>
            </a:extLst>
          </p:cNvPr>
          <p:cNvSpPr txBox="1"/>
          <p:nvPr/>
        </p:nvSpPr>
        <p:spPr>
          <a:xfrm>
            <a:off x="4203376" y="4332806"/>
            <a:ext cx="239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Extract environmental variables at location of samples. Currently matches to cell_metadata annotation  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92" name="Group 10">
            <a:extLst>
              <a:ext uri="{FF2B5EF4-FFF2-40B4-BE49-F238E27FC236}">
                <a16:creationId xmlns:a16="http://schemas.microsoft.com/office/drawing/2014/main" id="{9A412D75-7F6A-4BED-AEF1-AC92E300980D}"/>
              </a:ext>
            </a:extLst>
          </p:cNvPr>
          <p:cNvGrpSpPr>
            <a:grpSpLocks/>
          </p:cNvGrpSpPr>
          <p:nvPr/>
        </p:nvGrpSpPr>
        <p:grpSpPr bwMode="auto">
          <a:xfrm>
            <a:off x="6590445" y="1197166"/>
            <a:ext cx="1499412" cy="775721"/>
            <a:chOff x="1103313" y="1641476"/>
            <a:chExt cx="1316037" cy="723510"/>
          </a:xfrm>
        </p:grpSpPr>
        <p:sp>
          <p:nvSpPr>
            <p:cNvPr id="93" name="Terminator 28">
              <a:extLst>
                <a:ext uri="{FF2B5EF4-FFF2-40B4-BE49-F238E27FC236}">
                  <a16:creationId xmlns:a16="http://schemas.microsoft.com/office/drawing/2014/main" id="{1DD32FD9-67D0-4FA7-83D0-42D84414A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13" y="1641476"/>
              <a:ext cx="1316037" cy="464438"/>
            </a:xfrm>
            <a:prstGeom prst="flowChartTerminator">
              <a:avLst/>
            </a:prstGeom>
            <a:solidFill>
              <a:srgbClr val="99BA8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9261B65-2EF9-465F-87F1-8D79A6701F9C}"/>
                </a:ext>
              </a:extLst>
            </p:cNvPr>
            <p:cNvSpPr txBox="1"/>
            <p:nvPr/>
          </p:nvSpPr>
          <p:spPr bwMode="auto">
            <a:xfrm>
              <a:off x="1103313" y="1650605"/>
              <a:ext cx="1270013" cy="714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000" b="1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1_ReadIn_Cicumpolar_Annotation_Data_Prep.R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48BFCD5-7F31-47DC-BA3C-2DE771494915}"/>
              </a:ext>
            </a:extLst>
          </p:cNvPr>
          <p:cNvGrpSpPr/>
          <p:nvPr/>
        </p:nvGrpSpPr>
        <p:grpSpPr>
          <a:xfrm>
            <a:off x="4298842" y="1254950"/>
            <a:ext cx="2296512" cy="665616"/>
            <a:chOff x="2275488" y="4485206"/>
            <a:chExt cx="2296512" cy="665616"/>
          </a:xfrm>
        </p:grpSpPr>
        <p:sp>
          <p:nvSpPr>
            <p:cNvPr id="90" name="Terminator 28">
              <a:extLst>
                <a:ext uri="{FF2B5EF4-FFF2-40B4-BE49-F238E27FC236}">
                  <a16:creationId xmlns:a16="http://schemas.microsoft.com/office/drawing/2014/main" id="{D62392EC-88E1-4424-BC88-C9FEE25C4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7673" y="4485206"/>
              <a:ext cx="2041927" cy="294213"/>
            </a:xfrm>
            <a:prstGeom prst="flowChartTerminator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D9A7ACE-08C8-46E5-ADE0-287003B42F74}"/>
                </a:ext>
              </a:extLst>
            </p:cNvPr>
            <p:cNvSpPr txBox="1"/>
            <p:nvPr/>
          </p:nvSpPr>
          <p:spPr bwMode="auto">
            <a:xfrm>
              <a:off x="2377673" y="4508437"/>
              <a:ext cx="20419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000" b="1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Environmental_data_metadata.xls</a:t>
              </a:r>
            </a:p>
            <a:p>
              <a:pPr algn="ctr">
                <a:defRPr/>
              </a:pPr>
              <a:endPara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AD1D4E0-333A-4F2D-AD50-F9205A98AB2D}"/>
                </a:ext>
              </a:extLst>
            </p:cNvPr>
            <p:cNvSpPr txBox="1"/>
            <p:nvPr/>
          </p:nvSpPr>
          <p:spPr>
            <a:xfrm>
              <a:off x="2275488" y="4812268"/>
              <a:ext cx="22965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0" dirty="0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Record of s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43437"/>
                  </a:solidFill>
                  <a:effectLst/>
                  <a:uLnTx/>
                  <a:uFillTx/>
                  <a:ea typeface="MS PGothic" pitchFamily="34" charset="-128"/>
                  <a:cs typeface="Arial"/>
                </a:rPr>
                <a:t>ource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43437"/>
                  </a:solidFill>
                  <a:effectLst/>
                  <a:uLnTx/>
                  <a:uFillTx/>
                  <a:ea typeface="MS PGothic" pitchFamily="34" charset="-128"/>
                  <a:cs typeface="Arial"/>
                </a:rPr>
                <a:t>, processing, scale, 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43437"/>
                  </a:solidFill>
                  <a:effectLst/>
                  <a:uLnTx/>
                  <a:uFillTx/>
                  <a:ea typeface="MS PGothic" pitchFamily="34" charset="-128"/>
                  <a:cs typeface="Arial"/>
                </a:rPr>
                <a:t>etc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343437"/>
                  </a:solidFill>
                  <a:effectLst/>
                  <a:uLnTx/>
                  <a:uFillTx/>
                  <a:ea typeface="MS PGothic" pitchFamily="34" charset="-128"/>
                  <a:cs typeface="Arial"/>
                </a:rPr>
                <a:t> of environmental variables</a:t>
              </a:r>
              <a:endPara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5D5ED8AA-1355-4548-AED9-C32145A0503E}"/>
              </a:ext>
            </a:extLst>
          </p:cNvPr>
          <p:cNvSpPr txBox="1"/>
          <p:nvPr/>
        </p:nvSpPr>
        <p:spPr>
          <a:xfrm>
            <a:off x="1827213" y="21660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/</a:t>
            </a:r>
            <a:r>
              <a:rPr lang="en-AU" b="1" dirty="0" err="1">
                <a:solidFill>
                  <a:schemeClr val="tx1"/>
                </a:solidFill>
              </a:rPr>
              <a:t>ARC_Data</a:t>
            </a:r>
            <a:r>
              <a:rPr lang="en-AU" b="1" dirty="0">
                <a:solidFill>
                  <a:schemeClr val="tx1"/>
                </a:solidFill>
              </a:rPr>
              <a:t>     Folder structure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E0E796B-CC63-4E08-8A61-A43A91DD7447}"/>
              </a:ext>
            </a:extLst>
          </p:cNvPr>
          <p:cNvGrpSpPr/>
          <p:nvPr/>
        </p:nvGrpSpPr>
        <p:grpSpPr>
          <a:xfrm>
            <a:off x="6577012" y="2502830"/>
            <a:ext cx="1619531" cy="586073"/>
            <a:chOff x="6577012" y="2944525"/>
            <a:chExt cx="1619531" cy="405221"/>
          </a:xfrm>
        </p:grpSpPr>
        <p:sp>
          <p:nvSpPr>
            <p:cNvPr id="104" name="Terminator 28">
              <a:extLst>
                <a:ext uri="{FF2B5EF4-FFF2-40B4-BE49-F238E27FC236}">
                  <a16:creationId xmlns:a16="http://schemas.microsoft.com/office/drawing/2014/main" id="{AF5C793A-6849-4AFB-87FA-C1038EAD3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012" y="2944525"/>
              <a:ext cx="1619531" cy="260122"/>
            </a:xfrm>
            <a:prstGeom prst="flowChartTerminator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8441D61-FD7E-47F8-AA34-F0F2927E46B2}"/>
                </a:ext>
              </a:extLst>
            </p:cNvPr>
            <p:cNvSpPr txBox="1"/>
            <p:nvPr/>
          </p:nvSpPr>
          <p:spPr bwMode="auto">
            <a:xfrm>
              <a:off x="6577012" y="2949636"/>
              <a:ext cx="156289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000" b="1" dirty="0" err="1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Cirumpolar_Annotation_data.Rdata</a:t>
              </a:r>
              <a:endPara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6634FEDA-24F5-4EA1-B1C4-8C24FD05804C}"/>
              </a:ext>
            </a:extLst>
          </p:cNvPr>
          <p:cNvSpPr txBox="1"/>
          <p:nvPr/>
        </p:nvSpPr>
        <p:spPr>
          <a:xfrm>
            <a:off x="6468363" y="1693403"/>
            <a:ext cx="1823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srgbClr val="343437"/>
                </a:solidFill>
                <a:ea typeface="MS PGothic" pitchFamily="34" charset="-128"/>
                <a:cs typeface="Arial"/>
              </a:rPr>
              <a:t>Compiles cover and count annotations from </a:t>
            </a:r>
            <a:r>
              <a:rPr lang="en-US" sz="800" kern="0" dirty="0" err="1">
                <a:solidFill>
                  <a:srgbClr val="343437"/>
                </a:solidFill>
                <a:ea typeface="MS PGothic" pitchFamily="34" charset="-128"/>
                <a:cs typeface="Arial"/>
              </a:rPr>
              <a:t>coralNet</a:t>
            </a:r>
            <a:r>
              <a:rPr lang="en-US" sz="800" kern="0" dirty="0">
                <a:solidFill>
                  <a:srgbClr val="343437"/>
                </a:solidFill>
                <a:ea typeface="MS PGothic" pitchFamily="34" charset="-128"/>
                <a:cs typeface="Arial"/>
              </a:rPr>
              <a:t> and BIIGLE output files with image and cell metadata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F97E479-8931-451A-8258-0B62BB3E0361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7358459" y="2146244"/>
            <a:ext cx="0" cy="363978"/>
          </a:xfrm>
          <a:prstGeom prst="straightConnector1">
            <a:avLst/>
          </a:prstGeom>
          <a:noFill/>
          <a:ln w="254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  <a:headEnd type="none"/>
            <a:tailEnd type="triangle"/>
          </a:ln>
          <a:effectLst/>
        </p:spPr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145D5D7-65AA-4458-801A-CE8D9D906737}"/>
              </a:ext>
            </a:extLst>
          </p:cNvPr>
          <p:cNvGrpSpPr/>
          <p:nvPr/>
        </p:nvGrpSpPr>
        <p:grpSpPr>
          <a:xfrm>
            <a:off x="6695400" y="4630213"/>
            <a:ext cx="1540948" cy="400589"/>
            <a:chOff x="6577012" y="2944525"/>
            <a:chExt cx="1619531" cy="276974"/>
          </a:xfrm>
        </p:grpSpPr>
        <p:sp>
          <p:nvSpPr>
            <p:cNvPr id="121" name="Terminator 28">
              <a:extLst>
                <a:ext uri="{FF2B5EF4-FFF2-40B4-BE49-F238E27FC236}">
                  <a16:creationId xmlns:a16="http://schemas.microsoft.com/office/drawing/2014/main" id="{8C408D93-7955-44C5-8AB8-193DED7CB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012" y="2944525"/>
              <a:ext cx="1619531" cy="260122"/>
            </a:xfrm>
            <a:prstGeom prst="flowChartTerminator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>
              <a:outerShdw blurRad="41275" dist="25400" dir="5400000" algn="tl" rotWithShape="0">
                <a:srgbClr val="68686D">
                  <a:alpha val="34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sz="1600" kern="1000" spc="50" dirty="0">
                <a:solidFill>
                  <a:srgbClr val="D4D4D6">
                    <a:lumMod val="25000"/>
                  </a:srgbClr>
                </a:solidFill>
                <a:ea typeface="MS PGothic" pitchFamily="34" charset="-128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A8AD8C6-95EC-4E31-9289-B1FAA1222F2E}"/>
                </a:ext>
              </a:extLst>
            </p:cNvPr>
            <p:cNvSpPr txBox="1"/>
            <p:nvPr/>
          </p:nvSpPr>
          <p:spPr bwMode="auto">
            <a:xfrm>
              <a:off x="6577012" y="2944856"/>
              <a:ext cx="1562893" cy="2766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000" b="1" dirty="0" err="1">
                  <a:solidFill>
                    <a:srgbClr val="343437"/>
                  </a:solidFill>
                  <a:ea typeface="MS PGothic" pitchFamily="34" charset="-128"/>
                  <a:cs typeface="Arial"/>
                </a:rPr>
                <a:t>Cirumpolar_Annotation_Env_data.Rdata</a:t>
              </a:r>
              <a:endParaRPr lang="en-US" sz="1000" b="1" dirty="0">
                <a:solidFill>
                  <a:srgbClr val="343437"/>
                </a:solidFill>
                <a:ea typeface="MS PGothic" pitchFamily="34" charset="-128"/>
                <a:cs typeface="Arial"/>
              </a:endParaRP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A3B783B1-1114-4CF8-825A-A2B285DCACA9}"/>
              </a:ext>
            </a:extLst>
          </p:cNvPr>
          <p:cNvSpPr txBox="1"/>
          <p:nvPr/>
        </p:nvSpPr>
        <p:spPr>
          <a:xfrm>
            <a:off x="6539002" y="5078960"/>
            <a:ext cx="1752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343437"/>
                </a:solidFill>
                <a:effectLst/>
                <a:uLnTx/>
                <a:uFillTx/>
                <a:ea typeface="MS PGothic" pitchFamily="34" charset="-128"/>
                <a:cs typeface="Arial"/>
              </a:rPr>
              <a:t>Cell level metadata, annotation data and matched environmental data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74A3499-741B-49D1-8045-9A9953EE2EF5}"/>
              </a:ext>
            </a:extLst>
          </p:cNvPr>
          <p:cNvCxnSpPr>
            <a:cxnSpLocks/>
          </p:cNvCxnSpPr>
          <p:nvPr/>
        </p:nvCxnSpPr>
        <p:spPr>
          <a:xfrm flipH="1">
            <a:off x="6233125" y="2894755"/>
            <a:ext cx="1107026" cy="1151818"/>
          </a:xfrm>
          <a:prstGeom prst="straightConnector1">
            <a:avLst/>
          </a:prstGeom>
          <a:noFill/>
          <a:ln w="254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765B584-5E0D-4579-B06D-BC962546B560}"/>
              </a:ext>
            </a:extLst>
          </p:cNvPr>
          <p:cNvCxnSpPr>
            <a:cxnSpLocks/>
          </p:cNvCxnSpPr>
          <p:nvPr/>
        </p:nvCxnSpPr>
        <p:spPr>
          <a:xfrm>
            <a:off x="5732121" y="4747004"/>
            <a:ext cx="963279" cy="199966"/>
          </a:xfrm>
          <a:prstGeom prst="straightConnector1">
            <a:avLst/>
          </a:prstGeom>
          <a:noFill/>
          <a:ln w="254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  <a:headEnd type="non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87993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ntagon 4">
            <a:extLst>
              <a:ext uri="{FF2B5EF4-FFF2-40B4-BE49-F238E27FC236}">
                <a16:creationId xmlns:a16="http://schemas.microsoft.com/office/drawing/2014/main" id="{4856DFD5-25C2-4EED-885F-3F71412309D3}"/>
              </a:ext>
            </a:extLst>
          </p:cNvPr>
          <p:cNvSpPr/>
          <p:nvPr/>
        </p:nvSpPr>
        <p:spPr bwMode="auto">
          <a:xfrm>
            <a:off x="457200" y="718666"/>
            <a:ext cx="8352288" cy="379676"/>
          </a:xfrm>
          <a:prstGeom prst="rect">
            <a:avLst/>
          </a:prstGeom>
          <a:solidFill>
            <a:srgbClr val="759FAB"/>
          </a:solidFill>
          <a:ln w="6350" cmpd="sng">
            <a:noFill/>
          </a:ln>
          <a:effectLst/>
        </p:spPr>
        <p:txBody>
          <a:bodyPr lIns="64008" tIns="32004" rIns="16002" bIns="32004" spcCol="1270" anchor="ctr"/>
          <a:lstStyle/>
          <a:p>
            <a:pPr marL="0" marR="0" lvl="0" indent="0" algn="ctr" defTabSz="533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0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35E0E4-7AC9-4E63-95FC-2EFBD854B492}"/>
              </a:ext>
            </a:extLst>
          </p:cNvPr>
          <p:cNvSpPr txBox="1"/>
          <p:nvPr/>
        </p:nvSpPr>
        <p:spPr bwMode="auto">
          <a:xfrm>
            <a:off x="346568" y="736682"/>
            <a:ext cx="1863725" cy="27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\</a:t>
            </a:r>
            <a:r>
              <a:rPr lang="en-US" sz="1200" kern="1000" spc="50" dirty="0" err="1">
                <a:solidFill>
                  <a:prstClr val="white"/>
                </a:solidFill>
                <a:ea typeface="MS PGothic" pitchFamily="34" charset="-128"/>
                <a:cs typeface="Arial"/>
              </a:rPr>
              <a:t>data_explore</a:t>
            </a:r>
            <a:endParaRPr lang="en-US" sz="1200" kern="1000" spc="50" dirty="0">
              <a:solidFill>
                <a:prstClr val="white"/>
              </a:solidFill>
              <a:ea typeface="MS PGothic" pitchFamily="34" charset="-128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51002E-A74A-4456-B174-6C4BEA30967B}"/>
              </a:ext>
            </a:extLst>
          </p:cNvPr>
          <p:cNvSpPr/>
          <p:nvPr/>
        </p:nvSpPr>
        <p:spPr bwMode="auto">
          <a:xfrm>
            <a:off x="476200" y="939800"/>
            <a:ext cx="1656000" cy="4494134"/>
          </a:xfrm>
          <a:prstGeom prst="rect">
            <a:avLst/>
          </a:prstGeom>
          <a:solidFill>
            <a:srgbClr val="759FA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entagon 34">
            <a:extLst>
              <a:ext uri="{FF2B5EF4-FFF2-40B4-BE49-F238E27FC236}">
                <a16:creationId xmlns:a16="http://schemas.microsoft.com/office/drawing/2014/main" id="{9B5CAF7E-0C60-4422-BA65-7A9718C20B71}"/>
              </a:ext>
            </a:extLst>
          </p:cNvPr>
          <p:cNvSpPr/>
          <p:nvPr/>
        </p:nvSpPr>
        <p:spPr bwMode="auto">
          <a:xfrm>
            <a:off x="2139494" y="718666"/>
            <a:ext cx="116309" cy="379676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entagon 43">
            <a:extLst>
              <a:ext uri="{FF2B5EF4-FFF2-40B4-BE49-F238E27FC236}">
                <a16:creationId xmlns:a16="http://schemas.microsoft.com/office/drawing/2014/main" id="{625F63C5-F0C1-4F7B-8C85-5D9FDFE3E251}"/>
              </a:ext>
            </a:extLst>
          </p:cNvPr>
          <p:cNvSpPr/>
          <p:nvPr/>
        </p:nvSpPr>
        <p:spPr bwMode="auto">
          <a:xfrm>
            <a:off x="3823388" y="736682"/>
            <a:ext cx="119063" cy="220662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entagon 44">
            <a:extLst>
              <a:ext uri="{FF2B5EF4-FFF2-40B4-BE49-F238E27FC236}">
                <a16:creationId xmlns:a16="http://schemas.microsoft.com/office/drawing/2014/main" id="{1DF47ACA-BD26-4A2D-BE8F-D2CD7EF5220D}"/>
              </a:ext>
            </a:extLst>
          </p:cNvPr>
          <p:cNvSpPr/>
          <p:nvPr/>
        </p:nvSpPr>
        <p:spPr bwMode="auto">
          <a:xfrm>
            <a:off x="5476672" y="738218"/>
            <a:ext cx="123825" cy="227012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95F1B8-2382-46E6-BF79-A5EB02212813}"/>
              </a:ext>
            </a:extLst>
          </p:cNvPr>
          <p:cNvSpPr/>
          <p:nvPr/>
        </p:nvSpPr>
        <p:spPr bwMode="auto">
          <a:xfrm>
            <a:off x="3800898" y="921255"/>
            <a:ext cx="1656000" cy="4512679"/>
          </a:xfrm>
          <a:prstGeom prst="rect">
            <a:avLst/>
          </a:prstGeom>
          <a:solidFill>
            <a:srgbClr val="759FA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423BB9-756D-4F3E-87C9-1470A472B04E}"/>
              </a:ext>
            </a:extLst>
          </p:cNvPr>
          <p:cNvSpPr txBox="1"/>
          <p:nvPr/>
        </p:nvSpPr>
        <p:spPr bwMode="auto">
          <a:xfrm>
            <a:off x="2437231" y="762199"/>
            <a:ext cx="1404060" cy="27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\biodiversity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10B9AD-BE98-4212-A605-04EF8EF85407}"/>
              </a:ext>
            </a:extLst>
          </p:cNvPr>
          <p:cNvSpPr/>
          <p:nvPr/>
        </p:nvSpPr>
        <p:spPr bwMode="auto">
          <a:xfrm rot="5400000">
            <a:off x="2264702" y="-1075665"/>
            <a:ext cx="4702096" cy="8317101"/>
          </a:xfrm>
          <a:prstGeom prst="rect">
            <a:avLst/>
          </a:prstGeom>
          <a:noFill/>
          <a:ln w="6350" cap="flat" cmpd="sng" algn="ctr">
            <a:solidFill>
              <a:srgbClr val="759FAB"/>
            </a:solidFill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C8710-4CF4-4657-BD54-7D893C3604AA}"/>
              </a:ext>
            </a:extLst>
          </p:cNvPr>
          <p:cNvSpPr txBox="1"/>
          <p:nvPr/>
        </p:nvSpPr>
        <p:spPr bwMode="auto">
          <a:xfrm>
            <a:off x="5532832" y="689154"/>
            <a:ext cx="152889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\</a:t>
            </a:r>
            <a:r>
              <a:rPr lang="en-US" sz="1200" kern="1000" spc="50" dirty="0" err="1">
                <a:solidFill>
                  <a:prstClr val="white"/>
                </a:solidFill>
                <a:ea typeface="MS PGothic" pitchFamily="34" charset="-128"/>
                <a:cs typeface="Arial"/>
              </a:rPr>
              <a:t>vulnerable_marine_ecosystems</a:t>
            </a:r>
            <a:endParaRPr lang="en-US" sz="1200" kern="1000" spc="50" dirty="0">
              <a:solidFill>
                <a:prstClr val="white"/>
              </a:solidFill>
              <a:ea typeface="MS PGothic" pitchFamily="34" charset="-128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67FDF-C339-4F9F-92D3-0D2B55A5B7E3}"/>
              </a:ext>
            </a:extLst>
          </p:cNvPr>
          <p:cNvSpPr txBox="1"/>
          <p:nvPr/>
        </p:nvSpPr>
        <p:spPr bwMode="auto">
          <a:xfrm>
            <a:off x="6319545" y="490224"/>
            <a:ext cx="1956093" cy="27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\annotation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0F9C18-5AD0-4D2C-9F24-3ECF14B17C74}"/>
              </a:ext>
            </a:extLst>
          </p:cNvPr>
          <p:cNvSpPr txBox="1"/>
          <p:nvPr/>
        </p:nvSpPr>
        <p:spPr>
          <a:xfrm>
            <a:off x="1955660" y="2458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/</a:t>
            </a:r>
            <a:r>
              <a:rPr lang="en-AU" b="1" dirty="0" err="1">
                <a:solidFill>
                  <a:schemeClr val="tx1"/>
                </a:solidFill>
              </a:rPr>
              <a:t>ARC_Benthic_Mapping</a:t>
            </a:r>
            <a:r>
              <a:rPr lang="en-AU" b="1" dirty="0">
                <a:solidFill>
                  <a:schemeClr val="tx1"/>
                </a:solidFill>
              </a:rPr>
              <a:t>     Folder structure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FA2AC4-4A0A-4A25-A90B-498B543A7F86}"/>
              </a:ext>
            </a:extLst>
          </p:cNvPr>
          <p:cNvSpPr/>
          <p:nvPr/>
        </p:nvSpPr>
        <p:spPr bwMode="auto">
          <a:xfrm>
            <a:off x="7118302" y="926267"/>
            <a:ext cx="1656000" cy="4512679"/>
          </a:xfrm>
          <a:prstGeom prst="rect">
            <a:avLst/>
          </a:prstGeom>
          <a:solidFill>
            <a:srgbClr val="759FA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Pentagon 43">
            <a:extLst>
              <a:ext uri="{FF2B5EF4-FFF2-40B4-BE49-F238E27FC236}">
                <a16:creationId xmlns:a16="http://schemas.microsoft.com/office/drawing/2014/main" id="{A9E8DB17-AEA8-49C8-B3C2-0F8D2E345FA2}"/>
              </a:ext>
            </a:extLst>
          </p:cNvPr>
          <p:cNvSpPr/>
          <p:nvPr/>
        </p:nvSpPr>
        <p:spPr bwMode="auto">
          <a:xfrm>
            <a:off x="7107232" y="757124"/>
            <a:ext cx="119063" cy="220662"/>
          </a:xfrm>
          <a:prstGeom prst="homePlat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DB3B13-353C-4EC7-9B09-DE7D004D65DF}"/>
              </a:ext>
            </a:extLst>
          </p:cNvPr>
          <p:cNvSpPr txBox="1"/>
          <p:nvPr/>
        </p:nvSpPr>
        <p:spPr bwMode="auto">
          <a:xfrm>
            <a:off x="3683887" y="750904"/>
            <a:ext cx="1863725" cy="27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\bioregions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91A95A-CEE5-4A68-89D1-A03DDD38381B}"/>
              </a:ext>
            </a:extLst>
          </p:cNvPr>
          <p:cNvSpPr txBox="1"/>
          <p:nvPr/>
        </p:nvSpPr>
        <p:spPr bwMode="auto">
          <a:xfrm>
            <a:off x="6911279" y="736681"/>
            <a:ext cx="1863725" cy="27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1200" kern="1000" spc="50" dirty="0">
                <a:solidFill>
                  <a:prstClr val="white"/>
                </a:solidFill>
                <a:ea typeface="MS PGothic" pitchFamily="34" charset="-128"/>
                <a:cs typeface="Arial"/>
              </a:rPr>
              <a:t>\</a:t>
            </a:r>
            <a:r>
              <a:rPr lang="en-US" sz="1200" kern="1000" spc="50" dirty="0" err="1">
                <a:solidFill>
                  <a:prstClr val="white"/>
                </a:solidFill>
                <a:ea typeface="MS PGothic" pitchFamily="34" charset="-128"/>
                <a:cs typeface="Arial"/>
              </a:rPr>
              <a:t>internal_tools</a:t>
            </a:r>
            <a:endParaRPr lang="en-US" sz="1200" kern="1000" spc="50" dirty="0">
              <a:solidFill>
                <a:prstClr val="white"/>
              </a:solidFill>
              <a:ea typeface="MS PGothic" pitchFamily="34" charset="-128"/>
              <a:cs typeface="Arial"/>
            </a:endParaRPr>
          </a:p>
        </p:txBody>
      </p:sp>
      <p:sp>
        <p:nvSpPr>
          <p:cNvPr id="51" name="Terminator 28">
            <a:extLst>
              <a:ext uri="{FF2B5EF4-FFF2-40B4-BE49-F238E27FC236}">
                <a16:creationId xmlns:a16="http://schemas.microsoft.com/office/drawing/2014/main" id="{5DB54680-B62E-4317-AF9D-7B2BD6813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73" y="3114494"/>
            <a:ext cx="1512654" cy="303288"/>
          </a:xfrm>
          <a:prstGeom prst="flowChartTerminator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blurRad="41275" dist="25400" dir="5400000" algn="tl" rotWithShape="0">
              <a:srgbClr val="68686D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000" b="1" kern="1000" spc="50" dirty="0" err="1">
                <a:solidFill>
                  <a:srgbClr val="D4D4D6">
                    <a:lumMod val="25000"/>
                  </a:srgbClr>
                </a:solidFill>
                <a:ea typeface="MS PGothic" pitchFamily="34" charset="-128"/>
              </a:rPr>
              <a:t>Data_Explore.Rmd</a:t>
            </a:r>
            <a:endParaRPr lang="en-US" sz="1000" b="1" kern="1000" spc="50" dirty="0">
              <a:solidFill>
                <a:srgbClr val="D4D4D6">
                  <a:lumMod val="25000"/>
                </a:srgbClr>
              </a:solidFill>
              <a:ea typeface="MS PGothic" pitchFamily="34" charset="-128"/>
            </a:endParaRPr>
          </a:p>
        </p:txBody>
      </p:sp>
      <p:sp>
        <p:nvSpPr>
          <p:cNvPr id="53" name="Terminator 28">
            <a:extLst>
              <a:ext uri="{FF2B5EF4-FFF2-40B4-BE49-F238E27FC236}">
                <a16:creationId xmlns:a16="http://schemas.microsoft.com/office/drawing/2014/main" id="{6444CD7B-5ED6-440E-A3E3-FE201082B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02" y="2030058"/>
            <a:ext cx="1512654" cy="470381"/>
          </a:xfrm>
          <a:prstGeom prst="flowChartTerminator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blurRad="41275" dist="25400" dir="5400000" algn="tl" rotWithShape="0">
              <a:srgbClr val="68686D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000" b="1" kern="1000" spc="50" dirty="0" err="1">
                <a:solidFill>
                  <a:srgbClr val="D4D4D6">
                    <a:lumMod val="25000"/>
                  </a:srgbClr>
                </a:solidFill>
                <a:ea typeface="MS PGothic" pitchFamily="34" charset="-128"/>
              </a:rPr>
              <a:t>Circumpolar_Data_Overview_transects.Rmd</a:t>
            </a:r>
            <a:endParaRPr lang="en-US" sz="1000" b="1" kern="1000" spc="50" dirty="0">
              <a:solidFill>
                <a:srgbClr val="D4D4D6">
                  <a:lumMod val="25000"/>
                </a:srgbClr>
              </a:solidFill>
              <a:ea typeface="MS PGothic" pitchFamily="34" charset="-128"/>
            </a:endParaRPr>
          </a:p>
        </p:txBody>
      </p:sp>
      <p:sp>
        <p:nvSpPr>
          <p:cNvPr id="54" name="Terminator 28">
            <a:extLst>
              <a:ext uri="{FF2B5EF4-FFF2-40B4-BE49-F238E27FC236}">
                <a16:creationId xmlns:a16="http://schemas.microsoft.com/office/drawing/2014/main" id="{F4CD19C1-5662-429D-BB34-003C85C40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03" y="1253843"/>
            <a:ext cx="1512654" cy="303288"/>
          </a:xfrm>
          <a:prstGeom prst="flowChartTerminator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blurRad="41275" dist="25400" dir="5400000" algn="tl" rotWithShape="0">
              <a:srgbClr val="68686D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000" b="1" kern="1000" spc="50" dirty="0" err="1">
                <a:solidFill>
                  <a:srgbClr val="D4D4D6">
                    <a:lumMod val="25000"/>
                  </a:srgbClr>
                </a:solidFill>
                <a:ea typeface="MS PGothic" pitchFamily="34" charset="-128"/>
              </a:rPr>
              <a:t>Circumpolar_Data_Overview.Rmd</a:t>
            </a:r>
            <a:endParaRPr lang="en-US" sz="1000" b="1" kern="1000" spc="50" dirty="0">
              <a:solidFill>
                <a:srgbClr val="D4D4D6">
                  <a:lumMod val="25000"/>
                </a:srgbClr>
              </a:solidFill>
              <a:ea typeface="MS PGothic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97B18-D5F3-44AE-8025-6BD0498125CD}"/>
              </a:ext>
            </a:extLst>
          </p:cNvPr>
          <p:cNvSpPr txBox="1"/>
          <p:nvPr/>
        </p:nvSpPr>
        <p:spPr>
          <a:xfrm>
            <a:off x="556405" y="3451893"/>
            <a:ext cx="147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 err="1">
                <a:solidFill>
                  <a:srgbClr val="343437"/>
                </a:solidFill>
                <a:ea typeface="MS PGothic" pitchFamily="34" charset="-128"/>
                <a:cs typeface="Arial"/>
              </a:rPr>
              <a:t>Visualise</a:t>
            </a:r>
            <a:r>
              <a:rPr lang="en-US" sz="800" kern="0" dirty="0">
                <a:solidFill>
                  <a:srgbClr val="343437"/>
                </a:solidFill>
                <a:ea typeface="MS PGothic" pitchFamily="34" charset="-128"/>
                <a:cs typeface="Arial"/>
              </a:rPr>
              <a:t> environmental layers, environment at sampled locations, biological data 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16470-D5EF-4974-9287-079476FF7D8D}"/>
              </a:ext>
            </a:extLst>
          </p:cNvPr>
          <p:cNvSpPr txBox="1"/>
          <p:nvPr/>
        </p:nvSpPr>
        <p:spPr>
          <a:xfrm>
            <a:off x="505390" y="2530923"/>
            <a:ext cx="1478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 err="1">
                <a:solidFill>
                  <a:srgbClr val="343437"/>
                </a:solidFill>
                <a:ea typeface="MS PGothic" pitchFamily="34" charset="-128"/>
                <a:cs typeface="Arial"/>
              </a:rPr>
              <a:t>Visualise</a:t>
            </a:r>
            <a:r>
              <a:rPr lang="en-US" sz="800" kern="0" dirty="0">
                <a:solidFill>
                  <a:srgbClr val="343437"/>
                </a:solidFill>
                <a:ea typeface="MS PGothic" pitchFamily="34" charset="-128"/>
                <a:cs typeface="Arial"/>
              </a:rPr>
              <a:t> annotated images along transects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0C9735-94C9-4BDD-9B47-F12240AD11E3}"/>
              </a:ext>
            </a:extLst>
          </p:cNvPr>
          <p:cNvSpPr txBox="1"/>
          <p:nvPr/>
        </p:nvSpPr>
        <p:spPr>
          <a:xfrm>
            <a:off x="567476" y="1551337"/>
            <a:ext cx="147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srgbClr val="343437"/>
                </a:solidFill>
                <a:ea typeface="MS PGothic" pitchFamily="34" charset="-128"/>
                <a:cs typeface="Arial"/>
              </a:rPr>
              <a:t>Circumpolar and regional maps of location of diatom and image samples</a:t>
            </a:r>
            <a:endParaRPr kumimoji="0" lang="en-AU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0984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3021</TotalTime>
  <Words>371</Words>
  <Application>Microsoft Office PowerPoint</Application>
  <PresentationFormat>On-screen Show (4:3)</PresentationFormat>
  <Paragraphs>56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Hill</dc:creator>
  <cp:lastModifiedBy>Nicole Hill</cp:lastModifiedBy>
  <cp:revision>9</cp:revision>
  <dcterms:created xsi:type="dcterms:W3CDTF">2021-10-12T02:39:46Z</dcterms:created>
  <dcterms:modified xsi:type="dcterms:W3CDTF">2021-10-29T04:16:00Z</dcterms:modified>
</cp:coreProperties>
</file>